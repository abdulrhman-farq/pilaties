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137160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8803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استوديو Reformer Pilates نسائي — الرياض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3000" b="1">
                <a:solidFill>
                  <a:srgbClr val="C9A227"/>
                </a:solidFill>
                <a:latin typeface="Arial"/>
                <a:ea typeface="Arial"/>
                <a:cs typeface="Arial"/>
              </a:rPr>
              <a:t>عرض استثماري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8912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20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120 م²  |  6 أجهزة Reformer  |  دراسة جدوى — يونيو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1264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1300" b="0">
                <a:solidFill>
                  <a:srgbClr val="BBCCDD"/>
                </a:solidFill>
                <a:latin typeface="Arial"/>
                <a:ea typeface="Arial"/>
                <a:cs typeface="Arial"/>
              </a:rPr>
              <a:t>وثيقة مُعدّة لعرضها على مستثمر / صندوق استثماري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الفرصة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74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15000"/>
              </a:lnSpc>
            </a:pPr>
            <a:r>
              <a:rPr sz="1800" b="1">
                <a:solidFill>
                  <a:srgbClr val="C9A227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1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استوديو بيلاتس نسائي بوتيكي في الرياض — في صميم أسرع شريحتين نمواً بالسوق: النساء + القطاع البوتيكي.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1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سوق اللياقة السعودي: ~1.5 مليار دولار (2025) ← ~3 مليار دولار (2030).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1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نمو القطاع البوتيكي ~13.6% سنوياً | نمو شريحة النساء ~13.25% سنوياً.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1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مدعوم برؤية 2030 (مستهدف 40% ممارسة للنشاط البدني).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المشكلة والفجوة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74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15000"/>
              </a:lnSpc>
            </a:pPr>
            <a:r>
              <a:rPr sz="1800" b="1">
                <a:solidFill>
                  <a:srgbClr val="C9A227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فاخر جداً: حصة بـ 300–375 ريال — حاجز سعري مرتفع.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اقتصادي مزدحم: أندية ضخمة تفقد الطابع الحميمي والخصوصية.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الفجوة: استوديو بوتيكي راقٍ، نسائي بالكامل، بسعر في المتناول (150 ريال) وتجربة شبه شخصية (6 عميلات كحد أقصى).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الحل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74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15000"/>
              </a:lnSpc>
            </a:pPr>
            <a:r>
              <a:rPr sz="1800" b="1">
                <a:solidFill>
                  <a:srgbClr val="C9A227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استوديو 120 م² بـ 6 أجهزة Reformer (قابلة للتوسعة إلى 8).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تجربة حميمية فاخرة وخصوصية نسائية تامة.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موقع راقٍ + هوية علامة قوية.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نموذج إيرادات متعدد: حصص مفردة + باقات + اشتراكات + حصص خاصة.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السوق المستهدف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74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15000"/>
              </a:lnSpc>
            </a:pPr>
            <a:r>
              <a:rPr sz="1800" b="1">
                <a:solidFill>
                  <a:srgbClr val="C9A227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سيدات 25–45 سنة، دخل متوسط إلى مرتفع.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العاملات (الصباح الباكر والمساء) + ربات المنزل (فترات النهار).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محرّكات الطلب: الوعي الصحي، نمط الحياة، ما بعد الولادة، التعافي.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نموذج العمل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74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15000"/>
              </a:lnSpc>
            </a:pPr>
            <a:r>
              <a:rPr sz="1800" b="1">
                <a:solidFill>
                  <a:srgbClr val="C9A227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926080" y="1463040"/>
          <a:ext cx="6400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</a:tblGrid>
              <a:tr h="548640"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المصدر</a:t>
                      </a:r>
                    </a:p>
                  </a:txBody>
                  <a:tcPr anchor="ctr" marT="38100" marB="38100" marL="76200" marR="76200">
                    <a:solidFill>
                      <a:srgbClr val="2E8B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السعر</a:t>
                      </a:r>
                    </a:p>
                  </a:txBody>
                  <a:tcPr anchor="ctr" marT="38100" marB="38100" marL="76200" marR="76200">
                    <a:solidFill>
                      <a:srgbClr val="2E8B8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حصة مفردة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150 ريال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باقة 8 حصص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1,000 ريال (125/حصة)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اشتراك شهري غير محدود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1,600 ريال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حصة خاصة (Private/Duet)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250–400 ريال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6634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2000" b="1">
                <a:solidFill>
                  <a:srgbClr val="1F4E78"/>
                </a:solidFill>
                <a:latin typeface="Arial"/>
                <a:ea typeface="Arial"/>
                <a:cs typeface="Arial"/>
              </a:rPr>
              <a:t>الطاقة: 6 أجهزة × 7 حصص × 26 يوم = 1,092 حصة-عميلة/شهر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الاقتصاديات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74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15000"/>
              </a:lnSpc>
            </a:pPr>
            <a:r>
              <a:rPr sz="1800" b="1">
                <a:solidFill>
                  <a:srgbClr val="C9A227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468880" y="1554480"/>
          <a:ext cx="73152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</a:tblGrid>
              <a:tr h="594360"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المؤشر</a:t>
                      </a:r>
                    </a:p>
                  </a:txBody>
                  <a:tcPr anchor="ctr" marT="38100" marB="38100" marL="76200" marR="76200">
                    <a:solidFill>
                      <a:srgbClr val="2E8B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القيمة</a:t>
                      </a:r>
                    </a:p>
                  </a:txBody>
                  <a:tcPr anchor="ctr" marT="38100" marB="38100" marL="76200" marR="76200">
                    <a:solidFill>
                      <a:srgbClr val="2E8B8B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إجمالي الاستثمار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275,000 ريال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تكلفة تشغيل شهرية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61,000 ريال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نقطة التعادل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37% إشغال فقط (~2.2 عميلة/حصة)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5720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2000" b="1">
                <a:solidFill>
                  <a:srgbClr val="2E8B8B"/>
                </a:solidFill>
                <a:latin typeface="Arial"/>
                <a:ea typeface="Arial"/>
                <a:cs typeface="Arial"/>
              </a:rPr>
              <a:t>رأسمال منخفض + نقطة تعادل منخفضة = مخاطرة تشغيلية محدودة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التوقعات المالية (سيناريوهات الإشغال)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74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15000"/>
              </a:lnSpc>
            </a:pPr>
            <a:r>
              <a:rPr sz="1800" b="1">
                <a:solidFill>
                  <a:srgbClr val="C9A227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097280" y="1554480"/>
          <a:ext cx="100584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  <a:gridCol w="2514600"/>
              </a:tblGrid>
              <a:tr h="694944"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السيناريو</a:t>
                      </a:r>
                    </a:p>
                  </a:txBody>
                  <a:tcPr anchor="ctr" marT="38100" marB="38100" marL="76200" marR="76200">
                    <a:solidFill>
                      <a:srgbClr val="2E8B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الإيراد الشهري</a:t>
                      </a:r>
                    </a:p>
                  </a:txBody>
                  <a:tcPr anchor="ctr" marT="38100" marB="38100" marL="76200" marR="76200">
                    <a:solidFill>
                      <a:srgbClr val="2E8B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صافي شهري</a:t>
                      </a:r>
                    </a:p>
                  </a:txBody>
                  <a:tcPr anchor="ctr" marT="38100" marB="38100" marL="76200" marR="76200">
                    <a:solidFill>
                      <a:srgbClr val="2E8B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صافي سنوي</a:t>
                      </a:r>
                    </a:p>
                  </a:txBody>
                  <a:tcPr anchor="ctr" marT="38100" marB="38100" marL="76200" marR="76200">
                    <a:solidFill>
                      <a:srgbClr val="2E8B8B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1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إشغال 30%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49,140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(11,860)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(142,320)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1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إشغال 50%</a:t>
                      </a:r>
                    </a:p>
                  </a:txBody>
                  <a:tcPr anchor="ctr" marT="38100" marB="38100" marL="76200" marR="76200">
                    <a:solidFill>
                      <a:srgbClr val="C6EFC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81,900</a:t>
                      </a:r>
                    </a:p>
                  </a:txBody>
                  <a:tcPr anchor="ctr" marT="38100" marB="38100" marL="76200" marR="76200">
                    <a:solidFill>
                      <a:srgbClr val="C6EFC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20,900</a:t>
                      </a:r>
                    </a:p>
                  </a:txBody>
                  <a:tcPr anchor="ctr" marT="38100" marB="38100" marL="76200" marR="76200">
                    <a:solidFill>
                      <a:srgbClr val="C6EFC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250,800</a:t>
                      </a:r>
                    </a:p>
                  </a:txBody>
                  <a:tcPr anchor="ctr" marT="38100" marB="38100" marL="76200" marR="76200">
                    <a:solidFill>
                      <a:srgbClr val="C6EFCE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1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إشغال 70%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114,660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53,660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643,920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1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إشغال 90%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147,420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86,420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1,037,040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مؤشرات العائد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74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15000"/>
              </a:lnSpc>
            </a:pPr>
            <a:r>
              <a:rPr sz="1800" b="1">
                <a:solidFill>
                  <a:srgbClr val="C9A227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0" y="1463040"/>
          <a:ext cx="66751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3200400"/>
              </a:tblGrid>
              <a:tr h="518160"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المؤشر</a:t>
                      </a:r>
                    </a:p>
                  </a:txBody>
                  <a:tcPr anchor="ctr" marT="38100" marB="38100" marL="76200" marR="76200">
                    <a:solidFill>
                      <a:srgbClr val="2E8B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القيمة</a:t>
                      </a:r>
                    </a:p>
                  </a:txBody>
                  <a:tcPr anchor="ctr" marT="38100" marB="38100" marL="76200" marR="76200">
                    <a:solidFill>
                      <a:srgbClr val="2E8B8B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NPV (5 سنوات @15%)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~ +653,000 ريال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IRR (معدل العائد الداخلي)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~ 66%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ROI (إشغال 50%)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~ 91% سنوياً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فترة الاسترداد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~ 13 شهر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أرباح أول 3 سنوات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~ 665,000 ريال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تحليل الحساسية ومتانة النموذج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74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15000"/>
              </a:lnSpc>
            </a:pPr>
            <a:r>
              <a:rPr sz="1800" b="1">
                <a:solidFill>
                  <a:srgbClr val="C9A227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463040"/>
          <a:ext cx="10515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  <a:gridCol w="2103120"/>
              </a:tblGrid>
              <a:tr h="594360">
                <a:tc>
                  <a:txBody>
                    <a:bodyPr wrap="square"/>
                    <a:lstStyle/>
                    <a:p>
                      <a:pPr algn="ctr" rtl="1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الحالة</a:t>
                      </a:r>
                    </a:p>
                  </a:txBody>
                  <a:tcPr anchor="ctr" marT="38100" marB="38100" marL="76200" marR="76200">
                    <a:solidFill>
                      <a:srgbClr val="2E8B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التعادل</a:t>
                      </a:r>
                    </a:p>
                  </a:txBody>
                  <a:tcPr anchor="ctr" marT="38100" marB="38100" marL="76200" marR="76200">
                    <a:solidFill>
                      <a:srgbClr val="2E8B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صافي 50%/شهر</a:t>
                      </a:r>
                    </a:p>
                  </a:txBody>
                  <a:tcPr anchor="ctr" marT="38100" marB="38100" marL="76200" marR="76200">
                    <a:solidFill>
                      <a:srgbClr val="2E8B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NPV@15%</a:t>
                      </a:r>
                    </a:p>
                  </a:txBody>
                  <a:tcPr anchor="ctr" marT="38100" marB="38100" marL="76200" marR="76200">
                    <a:solidFill>
                      <a:srgbClr val="2E8B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IRR</a:t>
                      </a:r>
                    </a:p>
                  </a:txBody>
                  <a:tcPr anchor="ctr" marT="38100" marB="38100" marL="76200" marR="76200">
                    <a:solidFill>
                      <a:srgbClr val="2E8B8B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ctr" rtl="1"/>
                      <a:r>
                        <a:rPr sz="1500" b="1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أ) الأساسي (سعر صافٍ 150)</a:t>
                      </a:r>
                    </a:p>
                  </a:txBody>
                  <a:tcPr anchor="ctr" marT="38100" marB="38100" marL="76200" marR="76200">
                    <a:solidFill>
                      <a:srgbClr val="C6EFC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5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37%</a:t>
                      </a:r>
                    </a:p>
                  </a:txBody>
                  <a:tcPr anchor="ctr" marT="38100" marB="38100" marL="76200" marR="76200">
                    <a:solidFill>
                      <a:srgbClr val="C6EFC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5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20,900</a:t>
                      </a:r>
                    </a:p>
                  </a:txBody>
                  <a:tcPr anchor="ctr" marT="38100" marB="38100" marL="76200" marR="76200">
                    <a:solidFill>
                      <a:srgbClr val="C6EFC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5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~653,000</a:t>
                      </a:r>
                    </a:p>
                  </a:txBody>
                  <a:tcPr anchor="ctr" marT="38100" marB="38100" marL="76200" marR="76200">
                    <a:solidFill>
                      <a:srgbClr val="C6EFC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5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66%</a:t>
                      </a:r>
                    </a:p>
                  </a:txBody>
                  <a:tcPr anchor="ctr" marT="38100" marB="38100" marL="76200" marR="76200">
                    <a:solidFill>
                      <a:srgbClr val="C6EFCE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ctr" rtl="1"/>
                      <a:r>
                        <a:rPr sz="1500" b="1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ب) + رسوم دفع + إهلاك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5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38%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5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18,970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5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~568,000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5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60%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ctr" rtl="1"/>
                      <a:r>
                        <a:rPr sz="1500" b="1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ج) الأكثر تحفظاً (شامل الضريبة)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5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44%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5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8,450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5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~89,000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5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23%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20624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800" b="0">
                <a:solidFill>
                  <a:srgbClr val="1F4E78"/>
                </a:solidFill>
                <a:latin typeface="Arial"/>
                <a:ea typeface="Arial"/>
                <a:cs typeface="Arial"/>
              </a:rPr>
              <a:t>القرار المعتمد: سعر القائمة ~172.5 ريال شامل الضريبة (الصافي 150) — الحالة (أ).</a:t>
            </a:r>
          </a:p>
          <a:p>
            <a:pPr algn="r" rtl="1">
              <a:lnSpc>
                <a:spcPct val="115000"/>
              </a:lnSpc>
            </a:pPr>
            <a:r>
              <a:rPr sz="1800" b="0">
                <a:solidFill>
                  <a:srgbClr val="1F4E78"/>
                </a:solidFill>
                <a:latin typeface="Arial"/>
                <a:ea typeface="Arial"/>
                <a:cs typeface="Arial"/>
              </a:rPr>
              <a:t>رسوم الدفع والإهلاك أثرهما طفيف؛ معالجة الضريبة هي المتغيّر الحاسم،</a:t>
            </a:r>
          </a:p>
          <a:p>
            <a:pPr algn="r" rtl="1">
              <a:lnSpc>
                <a:spcPct val="115000"/>
              </a:lnSpc>
            </a:pPr>
            <a:r>
              <a:rPr sz="1800" b="0">
                <a:solidFill>
                  <a:srgbClr val="1F4E78"/>
                </a:solidFill>
                <a:latin typeface="Arial"/>
                <a:ea typeface="Arial"/>
                <a:cs typeface="Arial"/>
              </a:rPr>
              <a:t>والمشروع يبقى مجدياً حتى في الحالة الأكثر تحفظاً.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خطة النمو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74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15000"/>
              </a:lnSpc>
            </a:pPr>
            <a:r>
              <a:rPr sz="1800" b="1">
                <a:solidFill>
                  <a:srgbClr val="C9A227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السنة 1: بناء قاعدة العميلات (الوصول لإشغال 50%+).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السنة 2: تثبيت الربحية + إضافة جهازين (120 م² تستوعب 8 أجهزة بنفس الإيجار).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السنة 3+: غرفة نشاط ثانٍ (Mat/Barre) أو فرع ثانٍ عند إشغال 80%+ مستقر.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المخاطر وتخفيفها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74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15000"/>
              </a:lnSpc>
            </a:pPr>
            <a:r>
              <a:rPr sz="1800" b="1">
                <a:solidFill>
                  <a:srgbClr val="C9A227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097280" y="1554480"/>
          <a:ext cx="100584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6858000"/>
              </a:tblGrid>
              <a:tr h="658368"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المخاطرة</a:t>
                      </a:r>
                    </a:p>
                  </a:txBody>
                  <a:tcPr anchor="ctr" marT="38100" marB="38100" marL="76200" marR="76200">
                    <a:solidFill>
                      <a:srgbClr val="2E8B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إجراء التخفيف</a:t>
                      </a:r>
                    </a:p>
                  </a:txBody>
                  <a:tcPr anchor="ctr" marT="38100" marB="38100" marL="76200" marR="76200">
                    <a:solidFill>
                      <a:srgbClr val="2E8B8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المنافسة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تموضع بوتيكي + ولاء للعلامة لا للسعر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انخفاض الإشغال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نقطة تعادل منخفضة (37%) + إحالات + باقات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الاعتماد على مدربة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تعدد المدربات + توثيق المنهجية + بناء علامة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ارتفاع الإيجار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عقد طويل بسقف زيادة متفق عليه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التدفق النقدي لسنة الإطلاق (Launch Runway)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74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15000"/>
              </a:lnSpc>
            </a:pPr>
            <a:r>
              <a:rPr sz="1800" b="1">
                <a:solidFill>
                  <a:srgbClr val="C9A227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pic>
        <p:nvPicPr>
          <p:cNvPr id="6" name="Picture 5" descr="j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325880"/>
            <a:ext cx="10515600" cy="52774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1300" b="1">
                <a:solidFill>
                  <a:srgbClr val="1F4E78"/>
                </a:solidFill>
                <a:latin typeface="Arial"/>
                <a:ea typeface="Arial"/>
                <a:cs typeface="Arial"/>
              </a:rPr>
              <a:t>القاع ~ -106 ألف (الشهر 5) ← يُوصى بتمويل 300 ألف / رأس مال عامل ~120 ألف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الطلب التمويلي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74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15000"/>
              </a:lnSpc>
            </a:pPr>
            <a:r>
              <a:rPr sz="1800" b="1">
                <a:solidFill>
                  <a:srgbClr val="C9A227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2600" b="1">
                <a:solidFill>
                  <a:srgbClr val="1F4E78"/>
                </a:solidFill>
                <a:latin typeface="Arial"/>
                <a:ea typeface="Arial"/>
                <a:cs typeface="Arial"/>
              </a:rPr>
              <a:t>التمويل المطلوب: 300,000 ريال (يشمل هامش أمان ~25 ألف)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استرداد كامل خلال السنة الثانية.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نقطة مراجعة أداء عند الشهر السادس قبل أي قرار توسعة.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التوصية: المضي قدماً (GO).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5120640"/>
            <a:ext cx="7589520" cy="100584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0" y="5120640"/>
            <a:ext cx="75895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استثمار صغير، نقطة تعادل منخفضة، عائد استثنائي — في سوق صاعد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لماذا الآن؟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74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15000"/>
              </a:lnSpc>
            </a:pPr>
            <a:r>
              <a:rPr sz="1800" b="1">
                <a:solidFill>
                  <a:srgbClr val="C9A227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السوق في ذروة النمو ومدعوم حكومياً (رؤية 2030).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شريحة النساء هي الأسرع نمواً وغير مُشبَعة في كثير من الأحياء.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رأسمال صغير + عائد داخلي يفوق 65% = نسبة عائد/مخاطرة جذابة جداً.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12064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2000" b="1">
                <a:solidFill>
                  <a:srgbClr val="C9A227"/>
                </a:solidFill>
                <a:latin typeface="Arial"/>
                <a:ea typeface="Arial"/>
                <a:cs typeface="Arial"/>
              </a:rPr>
              <a:t>« استثمار صغير، نقطة تعادل منخفضة، عائد استثنائي، في سوق صاعد 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