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استوديو Reformer Pilates نسائي — الرياض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000" b="1">
                <a:solidFill>
                  <a:srgbClr val="C9A227"/>
                </a:solidFill>
                <a:latin typeface="Arial"/>
              </a:rPr>
              <a:t>عرض استثماري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120 م²  |  6 أجهزة Reformer  |  دراسة جدوى — يونيو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0">
                <a:solidFill>
                  <a:srgbClr val="BBCCDD"/>
                </a:solidFill>
                <a:latin typeface="Arial"/>
              </a:rPr>
              <a:t>وثيقة مُعدّة لعرضها على مستثمر / صندوق استثماري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الفرصة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</a:rPr>
              <a:t>•  استوديو بيلاتس نسائي بوتيكي في الرياض — في صميم أسرع شريحتين نمواً بالسوق: النساء + القطاع البوتيكي.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</a:rPr>
              <a:t>•  سوق اللياقة السعودي: ~1.5 مليار دولار (2025) ← ~3 مليار دولار (2030).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</a:rPr>
              <a:t>•  نمو القطاع البوتيكي ~13.6% سنوياً | نمو شريحة النساء ~13.25% سنوياً.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</a:rPr>
              <a:t>•  مدعوم برؤية 2030 (مستهدف 40% ممارسة للنشاط البدني).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المشكلة والفجوة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فاخر جداً: حصة بـ 300–375 ريال — حاجز سعري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اقتصادي مزدحم: أندية ضخمة تفقد الطابع الحميمي والخصوصية.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الفجوة: استوديو بوتيكي راقٍ، نسائي بالكامل، بسعر في المتناول (150 ريال) وتجربة شبه شخصية (6 عميلات كحد أقصى).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استوديو 120 م² بـ 6 أجهزة Reformer (قابلة للتوسعة إلى 8).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تجربة حميمية فاخرة وخصوصية نسائية تامة.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موقع راقٍ + هوية علامة قوية.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نموذج إيرادات متعدد: حصص مفردة + باقات + اشتراكات + حصص خاصة.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السوق المستهدف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سيدات 25–45 سنة، دخل متوسط إلى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العاملات (الصباح الباكر والمساء) + ربات المنزل (فترات النهار).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محرّكات الطلب: الوعي الصحي، نمط الحياة، ما بعد الولادة، التعافي.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نموذج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926080" y="146304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المصدر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السعر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حصة مفردة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150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باقة 8 حصص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1,000 ريال (125/حصة)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اشتراك شهري غير محدود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1,600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حصة خاصة (Private/Duet)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250–400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1F4E78"/>
                </a:solidFill>
                <a:latin typeface="Arial"/>
              </a:rPr>
              <a:t>الطاقة: 6 أجهزة × 7 حصص × 26 يوم = 1,092 حصة-عميلة/شهر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الاقتصاديات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5544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إجمالي الاستثمار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275,000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تكلفة تشغيل شهرية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61,000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نقطة التعادل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37% إشغال فقط (~2.2 عميلة/حصة)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2E8B8B"/>
                </a:solidFill>
                <a:latin typeface="Arial"/>
              </a:rPr>
              <a:t>رأسمال منخفض + نقطة تعادل منخفضة = مخاطرة تشغيلية محدودة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التوقعات المالية (سيناريوهات الإشغال)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السيناريو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الإيراد الشهري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صافي 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صافي سنوي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</a:rPr>
                        <a:t>إشغال 30%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49,140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(11,860)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(142,320)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</a:rPr>
                        <a:t>إشغال 50%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81,900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250,800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</a:rPr>
                        <a:t>إشغال 70%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114,660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53,660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643,920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</a:rPr>
                        <a:t>إشغال 90%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147,420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86,420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1,037,040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مؤشرات العائد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1463040"/>
          <a:ext cx="6675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00400"/>
              </a:tblGrid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NPV (5 سنوات @15%)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~ +653,000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IRR (معدل العائد الداخلي)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~ 66%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ROI (إشغال 50%)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~ 91% سنوياً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فترة الاسترداد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~ 13 شهر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أرباح أول 3 سنوات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</a:rPr>
                        <a:t>~ 666,000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خطة النمو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السنة 1: بناء قاعدة العميلات (الوصول لإشغال 50%+).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السنة 2: تثبيت الربحية + إضافة جهازين (120 م² تستوعب 8 أجهزة بنفس الإيجار).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السنة 3+: غرفة نشاط ثانٍ (Mat/Barre) أو فرع ثانٍ عند إشغال 80%+ مستقر.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المخاطر وتخفيفها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858000"/>
              </a:tblGrid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المخاطرة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إجراء التخفيف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المنافسة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تموضع بوتيكي + ولاء للعلامة لا للسعر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انخفاض الإشغال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نقطة تعادل منخفضة (37%) + إحالات + باقات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الاعتماد على مدربة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تعدد المدربات + توثيق المنهجية + بناء علامة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ارتفاع الإيجار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</a:rPr>
                        <a:t>عقد طويل بسقف زيادة متفق عليه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الطلب التمويلي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>
                <a:solidFill>
                  <a:srgbClr val="1F4E78"/>
                </a:solidFill>
                <a:latin typeface="Arial"/>
              </a:rPr>
              <a:t>التمويل المطلوب: 300,000 ريال (يشمل هامش أمان ~25 ألف)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استرداد كامل خلال السنة الثانية.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نقطة مراجعة أداء عند الشهر السادس قبل أي قرار توسعة.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التوصية: المضي قدماً (GO).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استثمار صغير، نقطة تعادل منخفضة، عائد استثنائي — في سوق صاعد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لماذا الآن؟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السوق في ذروة النمو ومدعوم حكومياً (رؤية 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شريحة النساء هي الأسرع نمواً وغير مُشبَعة في كثير من الأحياء.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</a:rPr>
              <a:t>•  رأسمال صغير + عائد داخلي يفوق 65% = نسبة عائد/مخاطرة جذابة جداً.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Arial"/>
              </a:rPr>
              <a:t>« استثمار صغير، نقطة تعادل منخفضة، عائد استثنائي، في سوق صاعد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